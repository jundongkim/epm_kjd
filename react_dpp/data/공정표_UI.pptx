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0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12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64" y="192"/>
      </p:cViewPr>
      <p:guideLst>
        <p:guide orient="horz" pos="2160"/>
        <p:guide pos="20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4F320-90E7-F675-61A8-B29A5BEC5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0CAEC5-5D6D-677D-C018-1201165F65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18DF0-E78C-03A3-D964-05B0E5D7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321A83-8496-F18C-7F0A-7A568BBA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BB0DD4-8693-ED94-F26C-F459F627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26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37098-28CF-5EF1-8F08-D4DDFB33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D18F25-27DD-FC12-DFD1-74A33B44B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C89CB-D1A0-B40E-3907-88276737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B7CEF3-E7C1-7630-5666-B38E052C9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5590C-493B-3431-F8B3-D92ABF317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42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D6289-AB46-B715-2E97-C623743FD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5014AD-6D8B-AA02-7E71-A56476B45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46C718-250D-E892-E499-D39FE5BAE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559E-AD2F-FFCD-D02C-62073B92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A91F66-DB46-35F1-FDA7-6B178F69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51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CC586-E652-3488-33DF-900585C2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345F67-42A5-789F-F236-C7010C96E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FD9899-398A-5437-8C8F-B04BE5447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EC0DC-7BF9-AAA4-4798-6EECE3CE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AB1506-4680-EC70-9147-70E65CB8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14EBF1-115C-4E30-D584-177A7B57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54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28346-A9DF-F9E2-7DEC-A1C6C19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D07228-867E-9D13-EE6B-D1B2C9655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EE31BB-B9EB-FDFB-C790-A1C1E184B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14F76A5-89DF-FF23-A242-FABDAF4DB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51A9B9-22BD-F7B6-4D39-825704CB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0BAD7A-BDAF-C392-F420-D33F1662D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723125-D6A3-263E-4929-ECCB797DB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272E69-939B-E81E-3457-F78E028D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25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F6E74-FA28-B3F9-BB0E-8DED2EAE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0CAF8E-73CA-F751-2956-4546ED22B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0AB75C-032D-4706-7D13-3C30CAD1E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35FC70-8806-D6FF-CED9-5D3DFECE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47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27CE22-F282-0CA5-ACBD-50CAFF1D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AB2886-4F20-A2D0-AB47-6CD0EC5D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E7CC5-127B-72A8-B3D8-36FD93CC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45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C04FE-7AE3-F7FD-70F9-FE5A60F6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CAA1A-BC61-C4C7-58D8-980011027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8A5CBE-2894-5F77-101A-E4C839D6F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78FFB7-7610-DE47-C021-A6367BF14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4154F2-56CF-82D3-C138-9D8F2827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0FDF0E-126D-4908-9ED9-0453AC93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6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4FBCA-BF05-8930-B22C-A8225BE6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1660898-5714-0CFE-31DB-12D427BC8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D916E3-5135-7DC2-C031-5130EF7E0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B32A53-E6C5-B53A-27D1-E635670E5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2A67A0-9C38-E916-1659-02C1E7D2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3EADDD-0822-3C73-E2C0-3E5F8088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88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060CA-8117-0AB8-E4F6-0AC84782F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CCEB13-2A92-3986-29E8-6B42E02AE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6E66C1-0EBB-DEB1-7F37-04B7A7CD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0A555-F180-6C85-0DC9-E9FCBEC5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CA704D-5FE9-44F9-BC46-1B4A72F8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49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2D2A87-285A-AF91-0BAA-0A201F06B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884932-70E1-D5C0-F047-B75DADFF7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01944-8084-0932-575B-9AB3E493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194D0F-5020-DCD4-F46C-92082C8FC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98519F-9C44-518F-D1BD-CEEA00DD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C9EE05-8876-24C3-302E-3B59D05F5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EEB5F3-10E0-7A24-505C-B541B540B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3DC885-6551-3B95-2472-83C9F5CEF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D9568-E093-42BF-A7C9-8569329F55A0}" type="datetimeFigureOut">
              <a:rPr lang="ko-KR" altLang="en-US" smtClean="0"/>
              <a:t>2025. 5. 31.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6B048-E96B-C773-F472-BEA3F2E42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8C884C-38E5-C392-11C4-E33C356C8D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057C8-264A-4154-818F-08048207E6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97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E94FC38-AEB4-58A0-73DB-43C9FC765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953509"/>
              </p:ext>
            </p:extLst>
          </p:nvPr>
        </p:nvGraphicFramePr>
        <p:xfrm>
          <a:off x="441108" y="881260"/>
          <a:ext cx="11504784" cy="5396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224">
                  <a:extLst>
                    <a:ext uri="{9D8B030D-6E8A-4147-A177-3AD203B41FA5}">
                      <a16:colId xmlns:a16="http://schemas.microsoft.com/office/drawing/2014/main" val="43005390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646013490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326267905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00982149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830967314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295515024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62490474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978701136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050869961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206094905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154774180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095926905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506179408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578221320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000848750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45610004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766913738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11207203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69070448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5842980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7493740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7447400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68104584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982105538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76357444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793870314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52717881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83136635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47628908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2269550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670348016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38900048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789198276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61637652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900835858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934173801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87910100"/>
                    </a:ext>
                  </a:extLst>
                </a:gridCol>
                <a:gridCol w="1577280">
                  <a:extLst>
                    <a:ext uri="{9D8B030D-6E8A-4147-A177-3AD203B41FA5}">
                      <a16:colId xmlns:a16="http://schemas.microsoft.com/office/drawing/2014/main" val="4203983403"/>
                    </a:ext>
                  </a:extLst>
                </a:gridCol>
                <a:gridCol w="1654120">
                  <a:extLst>
                    <a:ext uri="{9D8B030D-6E8A-4147-A177-3AD203B41FA5}">
                      <a16:colId xmlns:a16="http://schemas.microsoft.com/office/drawing/2014/main" val="394373110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708858592"/>
                    </a:ext>
                  </a:extLst>
                </a:gridCol>
                <a:gridCol w="33867">
                  <a:extLst>
                    <a:ext uri="{9D8B030D-6E8A-4147-A177-3AD203B41FA5}">
                      <a16:colId xmlns:a16="http://schemas.microsoft.com/office/drawing/2014/main" val="2685905369"/>
                    </a:ext>
                  </a:extLst>
                </a:gridCol>
                <a:gridCol w="106333">
                  <a:extLst>
                    <a:ext uri="{9D8B030D-6E8A-4147-A177-3AD203B41FA5}">
                      <a16:colId xmlns:a16="http://schemas.microsoft.com/office/drawing/2014/main" val="2294939935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49528586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929149874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30996740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46513384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48175259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054136191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79472177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828516745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152001894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75130920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168926618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82956999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2750540655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22715602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99083124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443828573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203773935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90869519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418929198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896061829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116819507"/>
                    </a:ext>
                  </a:extLst>
                </a:gridCol>
                <a:gridCol w="131440">
                  <a:extLst>
                    <a:ext uri="{9D8B030D-6E8A-4147-A177-3AD203B41FA5}">
                      <a16:colId xmlns:a16="http://schemas.microsoft.com/office/drawing/2014/main" val="3023249005"/>
                    </a:ext>
                  </a:extLst>
                </a:gridCol>
              </a:tblGrid>
              <a:tr h="394613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5/21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5/22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5/23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5/24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5/25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5/30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5/31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86743"/>
                  </a:ext>
                </a:extLst>
              </a:tr>
              <a:tr h="618825">
                <a:tc rowSpan="2"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No.1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비가동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비가동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984395"/>
                  </a:ext>
                </a:extLst>
              </a:tr>
              <a:tr h="618825">
                <a:tc vMerge="1">
                  <a:txBody>
                    <a:bodyPr/>
                    <a:lstStyle/>
                    <a:p>
                      <a:pPr algn="ctr" latinLnBrk="1"/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137756"/>
                  </a:ext>
                </a:extLst>
              </a:tr>
              <a:tr h="618825">
                <a:tc rowSpan="2"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No.2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비가동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비가동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628561"/>
                  </a:ext>
                </a:extLst>
              </a:tr>
              <a:tr h="618825">
                <a:tc vMerge="1">
                  <a:txBody>
                    <a:bodyPr/>
                    <a:lstStyle/>
                    <a:p>
                      <a:pPr algn="ctr" latinLnBrk="1"/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kumimoji="1" lang="ko-KR" altLang="en-US" sz="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420434"/>
                  </a:ext>
                </a:extLst>
              </a:tr>
              <a:tr h="618825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압연</a:t>
                      </a:r>
                      <a:endParaRPr kumimoji="1" lang="en-US" altLang="ko-KR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ko-KR" altLang="en-US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일정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압연 </a:t>
                      </a:r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5600T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압연 </a:t>
                      </a:r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5600T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압연 </a:t>
                      </a:r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차 </a:t>
                      </a:r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5600T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8888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미교정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Φ70 120T 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출하</a:t>
                      </a:r>
                      <a:endParaRPr kumimoji="1" lang="en-US" altLang="ko-KR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1L1111</a:t>
                      </a: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1L2222</a:t>
                      </a: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1L3333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814314"/>
                  </a:ext>
                </a:extLst>
              </a:tr>
              <a:tr h="618825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당진</a:t>
                      </a:r>
                      <a:endParaRPr kumimoji="1" lang="en-US" altLang="ko-KR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ctr" latinLnBrk="1"/>
                      <a:r>
                        <a:rPr kumimoji="1" lang="ko-KR" altLang="en-US" sz="9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이관재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Φ28 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이송 </a:t>
                      </a:r>
                      <a:endParaRPr kumimoji="1" lang="en-US" altLang="ko-KR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10B38M2 100T</a:t>
                      </a: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S45C 120T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Φ28 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이송 </a:t>
                      </a:r>
                      <a:endParaRPr kumimoji="1" lang="en-US" altLang="ko-KR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10B38M2 100T</a:t>
                      </a: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S45C 120T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14280"/>
                  </a:ext>
                </a:extLst>
              </a:tr>
              <a:tr h="618825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9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빌렛</a:t>
                      </a:r>
                      <a:endParaRPr kumimoji="1" lang="ko-KR" altLang="en-US" sz="9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l" latinLnBrk="1"/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옥외 야드</a:t>
                      </a:r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압연 </a:t>
                      </a:r>
                      <a:r>
                        <a:rPr kumimoji="1" lang="ko-KR" altLang="en-US" sz="1100" kern="1200" dirty="0" err="1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소재장</a:t>
                      </a:r>
                      <a:r>
                        <a:rPr kumimoji="1" lang="ko-KR" altLang="en-US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 출하</a:t>
                      </a:r>
                      <a:endParaRPr kumimoji="1" lang="en-US" altLang="ko-KR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  <a:p>
                      <a:pPr algn="l" latinLnBrk="1"/>
                      <a:r>
                        <a:rPr kumimoji="1" lang="en-US" altLang="ko-KR" sz="110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120T</a:t>
                      </a:r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3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algn="ctr" latinLnBrk="1"/>
                      <a:endParaRPr kumimoji="1" lang="ko-KR" altLang="en-US" sz="110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422985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B2FDB69-EBE7-3BE1-E6DD-F03223BD15EB}"/>
              </a:ext>
            </a:extLst>
          </p:cNvPr>
          <p:cNvCxnSpPr>
            <a:cxnSpLocks/>
          </p:cNvCxnSpPr>
          <p:nvPr/>
        </p:nvCxnSpPr>
        <p:spPr>
          <a:xfrm>
            <a:off x="946704" y="1719170"/>
            <a:ext cx="576000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A5D9C49-25EC-1782-1BB6-596052E02495}"/>
              </a:ext>
            </a:extLst>
          </p:cNvPr>
          <p:cNvCxnSpPr>
            <a:cxnSpLocks/>
          </p:cNvCxnSpPr>
          <p:nvPr/>
        </p:nvCxnSpPr>
        <p:spPr>
          <a:xfrm>
            <a:off x="1522704" y="1509620"/>
            <a:ext cx="132715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C61EB83-148C-FFD9-74B7-553CFD6FCEF6}"/>
              </a:ext>
            </a:extLst>
          </p:cNvPr>
          <p:cNvCxnSpPr>
            <a:cxnSpLocks/>
          </p:cNvCxnSpPr>
          <p:nvPr/>
        </p:nvCxnSpPr>
        <p:spPr>
          <a:xfrm>
            <a:off x="2849858" y="1789020"/>
            <a:ext cx="87815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BA649FCE-D6DB-94DC-A27C-321F83C9C768}"/>
              </a:ext>
            </a:extLst>
          </p:cNvPr>
          <p:cNvCxnSpPr>
            <a:cxnSpLocks/>
          </p:cNvCxnSpPr>
          <p:nvPr/>
        </p:nvCxnSpPr>
        <p:spPr>
          <a:xfrm>
            <a:off x="3728007" y="1523476"/>
            <a:ext cx="125095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8F74E4-A186-48FD-F91E-7D7B365086BE}"/>
              </a:ext>
            </a:extLst>
          </p:cNvPr>
          <p:cNvCxnSpPr>
            <a:cxnSpLocks/>
          </p:cNvCxnSpPr>
          <p:nvPr/>
        </p:nvCxnSpPr>
        <p:spPr>
          <a:xfrm>
            <a:off x="4978956" y="1789020"/>
            <a:ext cx="571595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26F1118-A06F-5157-A6C0-1E88E35E7030}"/>
              </a:ext>
            </a:extLst>
          </p:cNvPr>
          <p:cNvCxnSpPr>
            <a:cxnSpLocks/>
          </p:cNvCxnSpPr>
          <p:nvPr/>
        </p:nvCxnSpPr>
        <p:spPr>
          <a:xfrm>
            <a:off x="864496" y="2719584"/>
            <a:ext cx="132715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54316EEC-F27B-AC7D-0476-A2F59384FF5F}"/>
              </a:ext>
            </a:extLst>
          </p:cNvPr>
          <p:cNvCxnSpPr>
            <a:cxnSpLocks/>
          </p:cNvCxnSpPr>
          <p:nvPr/>
        </p:nvCxnSpPr>
        <p:spPr>
          <a:xfrm>
            <a:off x="2191647" y="2998984"/>
            <a:ext cx="87815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2AD236D-BE0B-07CD-91B6-E6EB6C078B70}"/>
              </a:ext>
            </a:extLst>
          </p:cNvPr>
          <p:cNvCxnSpPr>
            <a:cxnSpLocks/>
          </p:cNvCxnSpPr>
          <p:nvPr/>
        </p:nvCxnSpPr>
        <p:spPr>
          <a:xfrm>
            <a:off x="3069799" y="2733440"/>
            <a:ext cx="125095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3AFCC44-83F7-DCC0-9958-AF6794B24226}"/>
              </a:ext>
            </a:extLst>
          </p:cNvPr>
          <p:cNvCxnSpPr>
            <a:cxnSpLocks/>
          </p:cNvCxnSpPr>
          <p:nvPr/>
        </p:nvCxnSpPr>
        <p:spPr>
          <a:xfrm>
            <a:off x="4320746" y="2998984"/>
            <a:ext cx="628651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3B48FE9-3DE3-F63E-1A55-46BEAE6EE76C}"/>
              </a:ext>
            </a:extLst>
          </p:cNvPr>
          <p:cNvCxnSpPr>
            <a:cxnSpLocks/>
          </p:cNvCxnSpPr>
          <p:nvPr/>
        </p:nvCxnSpPr>
        <p:spPr>
          <a:xfrm>
            <a:off x="4949398" y="2697072"/>
            <a:ext cx="60115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02ECA72B-004B-22A1-EB2A-6B32CD26B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537468"/>
              </p:ext>
            </p:extLst>
          </p:nvPr>
        </p:nvGraphicFramePr>
        <p:xfrm>
          <a:off x="864497" y="1931514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5A-15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SCM440H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120T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15B37MJ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48T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SM25CA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386T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SM45C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39T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당진 </a:t>
                      </a:r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10B38M2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500T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1093T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18A46ACC-DC71-052E-21C0-12D5851C4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329210"/>
              </p:ext>
            </p:extLst>
          </p:nvPr>
        </p:nvGraphicFramePr>
        <p:xfrm>
          <a:off x="1522702" y="1381224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5A-16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Φ32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947FD6A3-1ACE-7352-A611-0CF5BDAE3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020665"/>
              </p:ext>
            </p:extLst>
          </p:nvPr>
        </p:nvGraphicFramePr>
        <p:xfrm>
          <a:off x="946702" y="1606268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5A-15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Φ33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84" name="표 83">
            <a:extLst>
              <a:ext uri="{FF2B5EF4-FFF2-40B4-BE49-F238E27FC236}">
                <a16:creationId xmlns:a16="http://schemas.microsoft.com/office/drawing/2014/main" id="{304D6243-80AD-D1F8-574C-0BA7E5C0F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666372"/>
              </p:ext>
            </p:extLst>
          </p:nvPr>
        </p:nvGraphicFramePr>
        <p:xfrm>
          <a:off x="1689718" y="1931514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5A-16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SCM440H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120T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2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15B37MJ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48T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168T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E5EC67D1-C010-3C64-0DFF-3F514E8AC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540103"/>
              </p:ext>
            </p:extLst>
          </p:nvPr>
        </p:nvGraphicFramePr>
        <p:xfrm>
          <a:off x="2849853" y="1668370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5A-17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Φ39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86" name="표 85">
            <a:extLst>
              <a:ext uri="{FF2B5EF4-FFF2-40B4-BE49-F238E27FC236}">
                <a16:creationId xmlns:a16="http://schemas.microsoft.com/office/drawing/2014/main" id="{C29833C4-C566-07AD-BD8D-B8E407A9E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085680"/>
              </p:ext>
            </p:extLst>
          </p:nvPr>
        </p:nvGraphicFramePr>
        <p:xfrm>
          <a:off x="2849858" y="1931514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5A-17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DBE94578-F08E-EF69-88EE-592354B7D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005963"/>
              </p:ext>
            </p:extLst>
          </p:nvPr>
        </p:nvGraphicFramePr>
        <p:xfrm>
          <a:off x="3714318" y="1408996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5A-18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Φ25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C923AACD-D3CA-E5B8-4C57-211718E8E6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775310"/>
              </p:ext>
            </p:extLst>
          </p:nvPr>
        </p:nvGraphicFramePr>
        <p:xfrm>
          <a:off x="4046869" y="1956937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5A-18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89" name="표 88">
            <a:extLst>
              <a:ext uri="{FF2B5EF4-FFF2-40B4-BE49-F238E27FC236}">
                <a16:creationId xmlns:a16="http://schemas.microsoft.com/office/drawing/2014/main" id="{CA953FDE-A916-1776-B1D9-85348F546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495218"/>
              </p:ext>
            </p:extLst>
          </p:nvPr>
        </p:nvGraphicFramePr>
        <p:xfrm>
          <a:off x="4855942" y="1950586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5A-19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40EEB09A-2C72-1819-4225-32DF7BF8B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063562"/>
              </p:ext>
            </p:extLst>
          </p:nvPr>
        </p:nvGraphicFramePr>
        <p:xfrm>
          <a:off x="4982128" y="1682468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5A-19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Φ24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91" name="표 90">
            <a:extLst>
              <a:ext uri="{FF2B5EF4-FFF2-40B4-BE49-F238E27FC236}">
                <a16:creationId xmlns:a16="http://schemas.microsoft.com/office/drawing/2014/main" id="{48515DFD-8A8A-63BF-801D-69B7673EB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303710"/>
              </p:ext>
            </p:extLst>
          </p:nvPr>
        </p:nvGraphicFramePr>
        <p:xfrm>
          <a:off x="864497" y="3171830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5B-17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92" name="표 91">
            <a:extLst>
              <a:ext uri="{FF2B5EF4-FFF2-40B4-BE49-F238E27FC236}">
                <a16:creationId xmlns:a16="http://schemas.microsoft.com/office/drawing/2014/main" id="{E1433CA8-B75B-2DA3-6DA6-C09FD3670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346127"/>
              </p:ext>
            </p:extLst>
          </p:nvPr>
        </p:nvGraphicFramePr>
        <p:xfrm>
          <a:off x="1689718" y="3171830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5B-18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2C8AD45D-CE6C-7388-160E-420DD8853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140852"/>
              </p:ext>
            </p:extLst>
          </p:nvPr>
        </p:nvGraphicFramePr>
        <p:xfrm>
          <a:off x="3245881" y="3180910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5A-19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7EB77A32-89AB-FD0C-35C1-E8E760FA2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888438"/>
              </p:ext>
            </p:extLst>
          </p:nvPr>
        </p:nvGraphicFramePr>
        <p:xfrm>
          <a:off x="4051714" y="3176426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5A-20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graphicFrame>
        <p:nvGraphicFramePr>
          <p:cNvPr id="96" name="표 95">
            <a:extLst>
              <a:ext uri="{FF2B5EF4-FFF2-40B4-BE49-F238E27FC236}">
                <a16:creationId xmlns:a16="http://schemas.microsoft.com/office/drawing/2014/main" id="{40D8D33B-FE37-D69C-365C-BD182EDBA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816121"/>
              </p:ext>
            </p:extLst>
          </p:nvPr>
        </p:nvGraphicFramePr>
        <p:xfrm>
          <a:off x="2186278" y="2885194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5A-18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Φ45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398CCFB5-18A8-16C8-6F86-360321A51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873767"/>
              </p:ext>
            </p:extLst>
          </p:nvPr>
        </p:nvGraphicFramePr>
        <p:xfrm>
          <a:off x="880028" y="2594844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5B-17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Φ40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7D1B8280-10A9-431E-8A7D-50979B6A7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518252"/>
              </p:ext>
            </p:extLst>
          </p:nvPr>
        </p:nvGraphicFramePr>
        <p:xfrm>
          <a:off x="3069794" y="2598598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5B-19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Φ48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04582BB9-9038-36B7-50E6-83A83748C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387597"/>
              </p:ext>
            </p:extLst>
          </p:nvPr>
        </p:nvGraphicFramePr>
        <p:xfrm>
          <a:off x="4949394" y="2572852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5B-21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Φ51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graphicFrame>
        <p:nvGraphicFramePr>
          <p:cNvPr id="101" name="표 100">
            <a:extLst>
              <a:ext uri="{FF2B5EF4-FFF2-40B4-BE49-F238E27FC236}">
                <a16:creationId xmlns:a16="http://schemas.microsoft.com/office/drawing/2014/main" id="{704F5AEC-C778-E8EC-3000-41B4F2EE5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071009"/>
              </p:ext>
            </p:extLst>
          </p:nvPr>
        </p:nvGraphicFramePr>
        <p:xfrm>
          <a:off x="4320744" y="2885194"/>
          <a:ext cx="467370" cy="8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05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212665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</a:tblGrid>
              <a:tr h="81280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5B-20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Φ50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</a:tbl>
          </a:graphicData>
        </a:graphic>
      </p:graphicFrame>
      <p:sp>
        <p:nvSpPr>
          <p:cNvPr id="102" name="TextBox 101">
            <a:extLst>
              <a:ext uri="{FF2B5EF4-FFF2-40B4-BE49-F238E27FC236}">
                <a16:creationId xmlns:a16="http://schemas.microsoft.com/office/drawing/2014/main" id="{BEC658CF-1EC4-E7DA-BA60-48B499434B1F}"/>
              </a:ext>
            </a:extLst>
          </p:cNvPr>
          <p:cNvSpPr txBox="1"/>
          <p:nvPr/>
        </p:nvSpPr>
        <p:spPr>
          <a:xfrm>
            <a:off x="441108" y="405224"/>
            <a:ext cx="4295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kumimoji="1"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2025.05.21</a:t>
            </a:r>
            <a:r>
              <a:rPr kumimoji="1"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1"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~</a:t>
            </a:r>
            <a:r>
              <a:rPr kumimoji="1"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kumimoji="1"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2025.05.31</a:t>
            </a:r>
            <a:r>
              <a:rPr kumimoji="1"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공정표</a:t>
            </a:r>
            <a:endParaRPr kumimoji="1" lang="ko-KR" altLang="en-US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07" name="표 106">
            <a:extLst>
              <a:ext uri="{FF2B5EF4-FFF2-40B4-BE49-F238E27FC236}">
                <a16:creationId xmlns:a16="http://schemas.microsoft.com/office/drawing/2014/main" id="{A7B53895-D789-6F7E-DC4F-958499587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038617"/>
              </p:ext>
            </p:extLst>
          </p:nvPr>
        </p:nvGraphicFramePr>
        <p:xfrm>
          <a:off x="4864754" y="3178758"/>
          <a:ext cx="702129" cy="519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44">
                  <a:extLst>
                    <a:ext uri="{9D8B030D-6E8A-4147-A177-3AD203B41FA5}">
                      <a16:colId xmlns:a16="http://schemas.microsoft.com/office/drawing/2014/main" val="4179103651"/>
                    </a:ext>
                  </a:extLst>
                </a:gridCol>
                <a:gridCol w="302909">
                  <a:extLst>
                    <a:ext uri="{9D8B030D-6E8A-4147-A177-3AD203B41FA5}">
                      <a16:colId xmlns:a16="http://schemas.microsoft.com/office/drawing/2014/main" val="3396697909"/>
                    </a:ext>
                  </a:extLst>
                </a:gridCol>
                <a:gridCol w="185776">
                  <a:extLst>
                    <a:ext uri="{9D8B030D-6E8A-4147-A177-3AD203B41FA5}">
                      <a16:colId xmlns:a16="http://schemas.microsoft.com/office/drawing/2014/main" val="1046252303"/>
                    </a:ext>
                  </a:extLst>
                </a:gridCol>
              </a:tblGrid>
              <a:tr h="81280">
                <a:tc grid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5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5B-21</a:t>
                      </a:r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r" defTabSz="914400" rtl="0" eaLnBrk="1" latinLnBrk="1" hangingPunct="1"/>
                      <a:endParaRPr kumimoji="1" lang="ko-KR" altLang="en-US" sz="5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04530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SCM440H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120T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779512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15B37MJ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48T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763966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SM25CA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386T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86418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SM45C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39T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428255"/>
                  </a:ext>
                </a:extLst>
              </a:tr>
              <a:tr h="7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당진 </a:t>
                      </a:r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10B38M2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3600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500T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899352"/>
                  </a:ext>
                </a:extLst>
              </a:tr>
              <a:tr h="7298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계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/>
                      <a:endParaRPr kumimoji="1" lang="ko-KR" altLang="en-US" sz="7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kumimoji="1" lang="en-US" altLang="ko-KR" sz="400" b="0" kern="120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00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1093T</a:t>
                      </a:r>
                      <a:endParaRPr kumimoji="1" lang="ko-KR" altLang="en-US" sz="400" b="0" kern="120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247959"/>
                  </a:ext>
                </a:extLst>
              </a:tr>
            </a:tbl>
          </a:graphicData>
        </a:graphic>
      </p:graphicFrame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238925C-E62B-1761-7B43-E2FDDB631AB2}"/>
              </a:ext>
            </a:extLst>
          </p:cNvPr>
          <p:cNvCxnSpPr>
            <a:cxnSpLocks/>
          </p:cNvCxnSpPr>
          <p:nvPr/>
        </p:nvCxnSpPr>
        <p:spPr>
          <a:xfrm>
            <a:off x="8782505" y="1785242"/>
            <a:ext cx="571595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F2A0F67D-3453-2F73-43AB-F84E139149AD}"/>
              </a:ext>
            </a:extLst>
          </p:cNvPr>
          <p:cNvCxnSpPr>
            <a:cxnSpLocks/>
          </p:cNvCxnSpPr>
          <p:nvPr/>
        </p:nvCxnSpPr>
        <p:spPr>
          <a:xfrm>
            <a:off x="8782506" y="2670582"/>
            <a:ext cx="24741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BA61D8B6-0091-4E46-7F35-0CEA37A80214}"/>
              </a:ext>
            </a:extLst>
          </p:cNvPr>
          <p:cNvCxnSpPr>
            <a:cxnSpLocks/>
          </p:cNvCxnSpPr>
          <p:nvPr/>
        </p:nvCxnSpPr>
        <p:spPr>
          <a:xfrm>
            <a:off x="9354097" y="1371134"/>
            <a:ext cx="1008064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A9019ABA-0CF5-DE95-BB0E-0CE5DDC1C862}"/>
              </a:ext>
            </a:extLst>
          </p:cNvPr>
          <p:cNvCxnSpPr>
            <a:cxnSpLocks/>
          </p:cNvCxnSpPr>
          <p:nvPr/>
        </p:nvCxnSpPr>
        <p:spPr>
          <a:xfrm>
            <a:off x="10362161" y="1766772"/>
            <a:ext cx="1008064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B1B1E116-A251-6C3A-3B49-62C88C99FBB1}"/>
              </a:ext>
            </a:extLst>
          </p:cNvPr>
          <p:cNvCxnSpPr>
            <a:cxnSpLocks/>
          </p:cNvCxnSpPr>
          <p:nvPr/>
        </p:nvCxnSpPr>
        <p:spPr>
          <a:xfrm>
            <a:off x="11370228" y="1381225"/>
            <a:ext cx="56719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49193F90-9106-A516-F3D0-E397AAB66C7D}"/>
              </a:ext>
            </a:extLst>
          </p:cNvPr>
          <p:cNvCxnSpPr>
            <a:cxnSpLocks/>
          </p:cNvCxnSpPr>
          <p:nvPr/>
        </p:nvCxnSpPr>
        <p:spPr>
          <a:xfrm>
            <a:off x="9029927" y="3009076"/>
            <a:ext cx="1332239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306DA56E-AC59-4B11-9AD8-B2C64472F061}"/>
              </a:ext>
            </a:extLst>
          </p:cNvPr>
          <p:cNvCxnSpPr>
            <a:cxnSpLocks/>
          </p:cNvCxnSpPr>
          <p:nvPr/>
        </p:nvCxnSpPr>
        <p:spPr>
          <a:xfrm>
            <a:off x="10362167" y="2619674"/>
            <a:ext cx="1575263" cy="0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타원 142">
            <a:extLst>
              <a:ext uri="{FF2B5EF4-FFF2-40B4-BE49-F238E27FC236}">
                <a16:creationId xmlns:a16="http://schemas.microsoft.com/office/drawing/2014/main" id="{901FCFCD-7E95-AA22-EE8D-32E2DAA8133A}"/>
              </a:ext>
            </a:extLst>
          </p:cNvPr>
          <p:cNvSpPr/>
          <p:nvPr/>
        </p:nvSpPr>
        <p:spPr>
          <a:xfrm>
            <a:off x="5472518" y="1706470"/>
            <a:ext cx="171105" cy="157544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490E5B6E-3623-D2E9-1AD3-F28BECF4F57C}"/>
              </a:ext>
            </a:extLst>
          </p:cNvPr>
          <p:cNvSpPr/>
          <p:nvPr/>
        </p:nvSpPr>
        <p:spPr>
          <a:xfrm>
            <a:off x="8679374" y="1705738"/>
            <a:ext cx="171105" cy="157544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F36F3346-44DB-D96C-0073-B0586CB3898D}"/>
              </a:ext>
            </a:extLst>
          </p:cNvPr>
          <p:cNvCxnSpPr>
            <a:cxnSpLocks/>
          </p:cNvCxnSpPr>
          <p:nvPr/>
        </p:nvCxnSpPr>
        <p:spPr>
          <a:xfrm flipH="1">
            <a:off x="5688268" y="1784510"/>
            <a:ext cx="2925099" cy="0"/>
          </a:xfrm>
          <a:prstGeom prst="straightConnector1">
            <a:avLst/>
          </a:prstGeom>
          <a:ln w="0"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98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11206</TotalTime>
  <Words>177</Words>
  <Application>Microsoft Macintosh PowerPoint</Application>
  <PresentationFormat>Widescreen</PresentationFormat>
  <Paragraphs>114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현대하모니 L</vt:lpstr>
      <vt:lpstr>현대하모니 M</vt:lpstr>
      <vt:lpstr>맑은 고딕</vt:lpstr>
      <vt:lpstr>Arial</vt:lpstr>
      <vt:lpstr>Office 테마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하경태 팀장 (포)특수강정정팀</dc:creator>
  <cp:lastModifiedBy>정 광용</cp:lastModifiedBy>
  <cp:revision>33</cp:revision>
  <cp:lastPrinted>2025-05-28T05:03:18Z</cp:lastPrinted>
  <dcterms:created xsi:type="dcterms:W3CDTF">2025-05-22T07:32:00Z</dcterms:created>
  <dcterms:modified xsi:type="dcterms:W3CDTF">2025-05-30T23:30:27Z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테마:8</vt:lpwstr>
  </property>
  <property fmtid="{D5CDD505-2E9C-101B-9397-08002B2CF9AE}" pid="3" name="ClassificationContentMarkingFooterText">
    <vt:lpwstr>본 문서는 현대제철의 정보자산으로 관련 법령에 의해 보호 받습니다.</vt:lpwstr>
  </property>
</Properties>
</file>